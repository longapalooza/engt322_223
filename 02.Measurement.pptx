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6"/>
  </p:notesMasterIdLst>
  <p:sldIdLst>
    <p:sldId id="281" r:id="rId2"/>
    <p:sldId id="289" r:id="rId3"/>
    <p:sldId id="279" r:id="rId4"/>
    <p:sldId id="284" r:id="rId5"/>
    <p:sldId id="280" r:id="rId6"/>
    <p:sldId id="257" r:id="rId7"/>
    <p:sldId id="258" r:id="rId8"/>
    <p:sldId id="259" r:id="rId9"/>
    <p:sldId id="256" r:id="rId10"/>
    <p:sldId id="282" r:id="rId11"/>
    <p:sldId id="260" r:id="rId12"/>
    <p:sldId id="261" r:id="rId13"/>
    <p:sldId id="262" r:id="rId14"/>
    <p:sldId id="283" r:id="rId15"/>
    <p:sldId id="263" r:id="rId16"/>
    <p:sldId id="285" r:id="rId17"/>
    <p:sldId id="264" r:id="rId18"/>
    <p:sldId id="287" r:id="rId19"/>
    <p:sldId id="290" r:id="rId20"/>
    <p:sldId id="265" r:id="rId21"/>
    <p:sldId id="266" r:id="rId22"/>
    <p:sldId id="286" r:id="rId23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  <p:sldId id="275" r:id="rId32"/>
    <p:sldId id="276" r:id="rId33"/>
    <p:sldId id="277" r:id="rId34"/>
    <p:sldId id="278" r:id="rId35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111" d="100"/>
          <a:sy n="111" d="100"/>
        </p:scale>
        <p:origin x="1614" y="9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7C720F-6D26-4EF3-A733-A3E788B9B3E0}" type="datetimeFigureOut">
              <a:rPr lang="en-US" smtClean="0"/>
              <a:pPr/>
              <a:t>2022-03-15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47245A-92A6-4BB8-8DA4-986DD23085C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33077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47245A-92A6-4BB8-8DA4-986DD23085C1}" type="slidenum">
              <a:rPr lang="en-US" smtClean="0"/>
              <a:pPr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Optical Comparator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47245A-92A6-4BB8-8DA4-986DD23085C1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41609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Liberty </a:t>
            </a:r>
            <a:r>
              <a:rPr lang="en-US"/>
              <a:t>Bell crack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47245A-92A6-4BB8-8DA4-986DD23085C1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08338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0E1CB-8B85-4458-9780-7A98876A3CDB}" type="datetimeFigureOut">
              <a:rPr lang="en-US" smtClean="0"/>
              <a:pPr/>
              <a:t>2022-03-15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B16C2E-0063-4908-958E-1C4FFD58AD5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0E1CB-8B85-4458-9780-7A98876A3CDB}" type="datetimeFigureOut">
              <a:rPr lang="en-US" smtClean="0"/>
              <a:pPr/>
              <a:t>2022-03-15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B16C2E-0063-4908-958E-1C4FFD58AD5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0E1CB-8B85-4458-9780-7A98876A3CDB}" type="datetimeFigureOut">
              <a:rPr lang="en-US" smtClean="0"/>
              <a:pPr/>
              <a:t>2022-03-15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B16C2E-0063-4908-958E-1C4FFD58AD5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0E1CB-8B85-4458-9780-7A98876A3CDB}" type="datetimeFigureOut">
              <a:rPr lang="en-US" smtClean="0"/>
              <a:pPr/>
              <a:t>2022-03-15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B16C2E-0063-4908-958E-1C4FFD58AD5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0E1CB-8B85-4458-9780-7A98876A3CDB}" type="datetimeFigureOut">
              <a:rPr lang="en-US" smtClean="0"/>
              <a:pPr/>
              <a:t>2022-03-15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B16C2E-0063-4908-958E-1C4FFD58AD5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0E1CB-8B85-4458-9780-7A98876A3CDB}" type="datetimeFigureOut">
              <a:rPr lang="en-US" smtClean="0"/>
              <a:pPr/>
              <a:t>2022-03-15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B16C2E-0063-4908-958E-1C4FFD58AD5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0E1CB-8B85-4458-9780-7A98876A3CDB}" type="datetimeFigureOut">
              <a:rPr lang="en-US" smtClean="0"/>
              <a:pPr/>
              <a:t>2022-03-15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B16C2E-0063-4908-958E-1C4FFD58AD5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0E1CB-8B85-4458-9780-7A98876A3CDB}" type="datetimeFigureOut">
              <a:rPr lang="en-US" smtClean="0"/>
              <a:pPr/>
              <a:t>2022-03-15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B16C2E-0063-4908-958E-1C4FFD58AD5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0E1CB-8B85-4458-9780-7A98876A3CDB}" type="datetimeFigureOut">
              <a:rPr lang="en-US" smtClean="0"/>
              <a:pPr/>
              <a:t>2022-03-15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B16C2E-0063-4908-958E-1C4FFD58AD5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0E1CB-8B85-4458-9780-7A98876A3CDB}" type="datetimeFigureOut">
              <a:rPr lang="en-US" smtClean="0"/>
              <a:pPr/>
              <a:t>2022-03-15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B16C2E-0063-4908-958E-1C4FFD58AD5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0E1CB-8B85-4458-9780-7A98876A3CDB}" type="datetimeFigureOut">
              <a:rPr lang="en-US" smtClean="0"/>
              <a:pPr/>
              <a:t>2022-03-15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B16C2E-0063-4908-958E-1C4FFD58AD5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10E1CB-8B85-4458-9780-7A98876A3CDB}" type="datetimeFigureOut">
              <a:rPr lang="en-US" smtClean="0"/>
              <a:pPr/>
              <a:t>2022-03-15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3B16C2E-0063-4908-958E-1C4FFD58AD57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://www2.latech.edu/~long/video.php?name=02.1.Gage%20Blocks" TargetMode="External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://www2.latech.edu/~long/video.php?name=02.2.Dial%20Caliper" TargetMode="External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://www2.latech.edu/~long/video.php?name=02.3.Micrometers" TargetMode="External"/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://www2.latech.edu/~long/video.php?name=02.4.Optical%20Comparator" TargetMode="Externa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e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Measurement,</a:t>
            </a:r>
            <a:br>
              <a:rPr lang="en-US" dirty="0"/>
            </a:br>
            <a:r>
              <a:rPr lang="en-US" dirty="0"/>
              <a:t>Inspection,</a:t>
            </a:r>
            <a:br>
              <a:rPr lang="en-US" dirty="0"/>
            </a:br>
            <a:r>
              <a:rPr lang="en-US" dirty="0"/>
              <a:t>and Testing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457200" y="609600"/>
            <a:ext cx="8229600" cy="5562600"/>
          </a:xfrm>
        </p:spPr>
        <p:txBody>
          <a:bodyPr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3800" b="1" u="sng" dirty="0"/>
              <a:t>Seven Standards of Measurement</a:t>
            </a:r>
            <a:endParaRPr lang="en-US" sz="3800" dirty="0"/>
          </a:p>
          <a:p>
            <a:pPr marL="0" indent="0">
              <a:buNone/>
            </a:pPr>
            <a:endParaRPr lang="en-US" dirty="0"/>
          </a:p>
          <a:p>
            <a:pPr>
              <a:buFont typeface="Wingdings" pitchFamily="2" charset="2"/>
              <a:buChar char="v"/>
            </a:pPr>
            <a:r>
              <a:rPr lang="en-US" sz="3300" dirty="0"/>
              <a:t>Provide the basics for all other units of measurement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Length</a:t>
            </a:r>
          </a:p>
          <a:p>
            <a:r>
              <a:rPr lang="en-US" dirty="0"/>
              <a:t>Time	</a:t>
            </a:r>
          </a:p>
          <a:p>
            <a:r>
              <a:rPr lang="en-US" dirty="0"/>
              <a:t>Mass	</a:t>
            </a:r>
          </a:p>
          <a:p>
            <a:r>
              <a:rPr lang="en-US" dirty="0"/>
              <a:t>Temperature	</a:t>
            </a:r>
          </a:p>
          <a:p>
            <a:r>
              <a:rPr lang="en-US" dirty="0"/>
              <a:t>Ampere</a:t>
            </a:r>
          </a:p>
          <a:p>
            <a:r>
              <a:rPr lang="en-US" dirty="0"/>
              <a:t>Candela</a:t>
            </a:r>
          </a:p>
          <a:p>
            <a:r>
              <a:rPr lang="en-US" dirty="0"/>
              <a:t>Mole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49721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Gage Blocks</a:t>
            </a:r>
          </a:p>
        </p:txBody>
      </p:sp>
      <p:pic>
        <p:nvPicPr>
          <p:cNvPr id="4" name="Content Placeholder 3" descr="Fig 10-3 Gage Blocks.jpg"/>
          <p:cNvPicPr>
            <a:picLocks noGrp="1" noChangeAspect="1"/>
          </p:cNvPicPr>
          <p:nvPr>
            <p:ph idx="1"/>
          </p:nvPr>
        </p:nvPicPr>
        <p:blipFill>
          <a:blip r:embed="rId2" cstate="print"/>
          <a:stretch>
            <a:fillRect/>
          </a:stretch>
        </p:blipFill>
        <p:spPr>
          <a:xfrm>
            <a:off x="1371600" y="1447800"/>
            <a:ext cx="6166908" cy="4625181"/>
          </a:xfr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cture containing gear&#10;&#10;Description automatically generated">
            <a:extLst>
              <a:ext uri="{FF2B5EF4-FFF2-40B4-BE49-F238E27FC236}">
                <a16:creationId xmlns:a16="http://schemas.microsoft.com/office/drawing/2014/main" id="{137B3B41-6E3F-47E7-9149-571D46A05D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8028"/>
            <a:ext cx="9143999" cy="689405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39BDC2F-F713-4B26-940F-0B745DA32765}"/>
              </a:ext>
            </a:extLst>
          </p:cNvPr>
          <p:cNvSpPr txBox="1"/>
          <p:nvPr/>
        </p:nvSpPr>
        <p:spPr>
          <a:xfrm>
            <a:off x="1" y="6170361"/>
            <a:ext cx="914399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hlinkClick r:id="rId3"/>
              </a:rPr>
              <a:t>Watch Video Here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32415923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Gage Blocks wrung together</a:t>
            </a:r>
          </a:p>
        </p:txBody>
      </p:sp>
      <p:pic>
        <p:nvPicPr>
          <p:cNvPr id="4" name="Content Placeholder 3" descr="Fig 10-4 Gage Blocks wrung together.jpg"/>
          <p:cNvPicPr>
            <a:picLocks noGrp="1" noChangeAspect="1"/>
          </p:cNvPicPr>
          <p:nvPr>
            <p:ph idx="1"/>
          </p:nvPr>
        </p:nvPicPr>
        <p:blipFill>
          <a:blip r:embed="rId2" cstate="print"/>
          <a:stretch>
            <a:fillRect/>
          </a:stretch>
        </p:blipFill>
        <p:spPr>
          <a:xfrm>
            <a:off x="1554691" y="1600200"/>
            <a:ext cx="6034617" cy="4525963"/>
          </a:xfr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Mated Parts</a:t>
            </a:r>
          </a:p>
        </p:txBody>
      </p:sp>
      <p:pic>
        <p:nvPicPr>
          <p:cNvPr id="4" name="Content Placeholder 3" descr="Fig 10-7 Shaft and box.jpg"/>
          <p:cNvPicPr>
            <a:picLocks noGrp="1" noChangeAspect="1"/>
          </p:cNvPicPr>
          <p:nvPr>
            <p:ph idx="1"/>
          </p:nvPr>
        </p:nvPicPr>
        <p:blipFill>
          <a:blip r:embed="rId2" cstate="print"/>
          <a:stretch>
            <a:fillRect/>
          </a:stretch>
        </p:blipFill>
        <p:spPr>
          <a:xfrm>
            <a:off x="1554691" y="1600200"/>
            <a:ext cx="6034617" cy="4525963"/>
          </a:xfr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Normal Distribution</a:t>
            </a:r>
          </a:p>
        </p:txBody>
      </p:sp>
      <p:pic>
        <p:nvPicPr>
          <p:cNvPr id="4" name="Content Placeholder 3" descr="Fig 10-8 Normal distribution.jpg"/>
          <p:cNvPicPr>
            <a:picLocks noGrp="1" noChangeAspect="1"/>
          </p:cNvPicPr>
          <p:nvPr>
            <p:ph idx="1"/>
          </p:nvPr>
        </p:nvPicPr>
        <p:blipFill>
          <a:blip r:embed="rId2" cstate="print"/>
          <a:srcRect l="13381" r="12119"/>
          <a:stretch>
            <a:fillRect/>
          </a:stretch>
        </p:blipFill>
        <p:spPr>
          <a:xfrm>
            <a:off x="2362200" y="1600200"/>
            <a:ext cx="4495800" cy="4525963"/>
          </a:xfr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Distributions of Mating Parts</a:t>
            </a:r>
          </a:p>
        </p:txBody>
      </p:sp>
      <p:pic>
        <p:nvPicPr>
          <p:cNvPr id="4" name="Content Placeholder 3" descr="Fig 10-9 Distribution hole shaft dimensions.jpg"/>
          <p:cNvPicPr>
            <a:picLocks noGrp="1" noChangeAspect="1"/>
          </p:cNvPicPr>
          <p:nvPr>
            <p:ph idx="1"/>
          </p:nvPr>
        </p:nvPicPr>
        <p:blipFill>
          <a:blip r:embed="rId2" cstate="print"/>
          <a:stretch>
            <a:fillRect/>
          </a:stretch>
        </p:blipFill>
        <p:spPr>
          <a:xfrm>
            <a:off x="1554691" y="1600200"/>
            <a:ext cx="6034617" cy="4525963"/>
          </a:xfr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Accuracy Versus Precision</a:t>
            </a:r>
          </a:p>
        </p:txBody>
      </p:sp>
      <p:pic>
        <p:nvPicPr>
          <p:cNvPr id="4" name="Picture 3" descr="Accurate vs precise.JP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2057400" y="1676400"/>
            <a:ext cx="4676775" cy="425806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Rule of 10 for Inspection</a:t>
            </a:r>
          </a:p>
        </p:txBody>
      </p:sp>
      <p:pic>
        <p:nvPicPr>
          <p:cNvPr id="4" name="Content Placeholder 3" descr="Fig 10-12 Rule of 10 for inspection.jpg"/>
          <p:cNvPicPr>
            <a:picLocks noGrp="1" noChangeAspect="1"/>
          </p:cNvPicPr>
          <p:nvPr>
            <p:ph idx="1"/>
          </p:nvPr>
        </p:nvPicPr>
        <p:blipFill>
          <a:blip r:embed="rId2" cstate="print"/>
          <a:stretch>
            <a:fillRect/>
          </a:stretch>
        </p:blipFill>
        <p:spPr>
          <a:xfrm>
            <a:off x="762000" y="2224881"/>
            <a:ext cx="7620000" cy="3276600"/>
          </a:xfr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Machinist’s Rules</a:t>
            </a:r>
          </a:p>
        </p:txBody>
      </p:sp>
      <p:pic>
        <p:nvPicPr>
          <p:cNvPr id="4" name="Content Placeholder 3" descr="Fig 10-13 Machinists rules.jpg"/>
          <p:cNvPicPr>
            <a:picLocks noGrp="1" noChangeAspect="1"/>
          </p:cNvPicPr>
          <p:nvPr>
            <p:ph idx="1"/>
          </p:nvPr>
        </p:nvPicPr>
        <p:blipFill>
          <a:blip r:embed="rId2" cstate="print"/>
          <a:stretch>
            <a:fillRect/>
          </a:stretch>
        </p:blipFill>
        <p:spPr>
          <a:xfrm>
            <a:off x="1554691" y="1600200"/>
            <a:ext cx="6034617" cy="4525963"/>
          </a:xfr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Combination Set</a:t>
            </a:r>
          </a:p>
        </p:txBody>
      </p:sp>
      <p:pic>
        <p:nvPicPr>
          <p:cNvPr id="4" name="Content Placeholder 3" descr="Fig 10-14 Combination set.jpg"/>
          <p:cNvPicPr>
            <a:picLocks noGrp="1" noChangeAspect="1"/>
          </p:cNvPicPr>
          <p:nvPr>
            <p:ph idx="1"/>
          </p:nvPr>
        </p:nvPicPr>
        <p:blipFill>
          <a:blip r:embed="rId2" cstate="print"/>
          <a:stretch>
            <a:fillRect/>
          </a:stretch>
        </p:blipFill>
        <p:spPr>
          <a:xfrm>
            <a:off x="1241817" y="1600200"/>
            <a:ext cx="6660366" cy="4525963"/>
          </a:xfr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Vernier Caliper</a:t>
            </a:r>
          </a:p>
        </p:txBody>
      </p:sp>
      <p:pic>
        <p:nvPicPr>
          <p:cNvPr id="4" name="Content Placeholder 3" descr="Fig 10-15 Vernier caliper.jpg"/>
          <p:cNvPicPr>
            <a:picLocks noGrp="1" noChangeAspect="1"/>
          </p:cNvPicPr>
          <p:nvPr>
            <p:ph idx="1"/>
          </p:nvPr>
        </p:nvPicPr>
        <p:blipFill>
          <a:blip r:embed="rId2" cstate="print"/>
          <a:stretch>
            <a:fillRect/>
          </a:stretch>
        </p:blipFill>
        <p:spPr>
          <a:xfrm>
            <a:off x="1554691" y="1600200"/>
            <a:ext cx="6034617" cy="4525963"/>
          </a:xfr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Vernier Caliper Scale</a:t>
            </a:r>
          </a:p>
        </p:txBody>
      </p:sp>
      <p:pic>
        <p:nvPicPr>
          <p:cNvPr id="4" name="Content Placeholder 3" descr="Fig 10-16 Vernier caliper scale.jpg"/>
          <p:cNvPicPr>
            <a:picLocks noGrp="1" noChangeAspect="1"/>
          </p:cNvPicPr>
          <p:nvPr>
            <p:ph idx="1"/>
          </p:nvPr>
        </p:nvPicPr>
        <p:blipFill>
          <a:blip r:embed="rId2" cstate="print"/>
          <a:srcRect l="-251" t="11785" r="1038" b="15819"/>
          <a:stretch>
            <a:fillRect/>
          </a:stretch>
        </p:blipFill>
        <p:spPr>
          <a:xfrm>
            <a:off x="990600" y="1676400"/>
            <a:ext cx="7095460" cy="3962400"/>
          </a:xfr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Dial Caliper</a:t>
            </a:r>
          </a:p>
        </p:txBody>
      </p:sp>
      <p:pic>
        <p:nvPicPr>
          <p:cNvPr id="4" name="Content Placeholder 3" descr="Fig 10-18 Dial caliper.jpg"/>
          <p:cNvPicPr>
            <a:picLocks noGrp="1" noChangeAspect="1"/>
          </p:cNvPicPr>
          <p:nvPr>
            <p:ph idx="1"/>
          </p:nvPr>
        </p:nvPicPr>
        <p:blipFill>
          <a:blip r:embed="rId2" cstate="print"/>
          <a:stretch>
            <a:fillRect/>
          </a:stretch>
        </p:blipFill>
        <p:spPr>
          <a:xfrm>
            <a:off x="701336" y="1908969"/>
            <a:ext cx="7680664" cy="3272631"/>
          </a:xfr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icture containing person, hand&#10;&#10;Description automatically generated">
            <a:extLst>
              <a:ext uri="{FF2B5EF4-FFF2-40B4-BE49-F238E27FC236}">
                <a16:creationId xmlns:a16="http://schemas.microsoft.com/office/drawing/2014/main" id="{B393B787-E576-4C8D-9F4F-BB5AEC2B84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8028"/>
            <a:ext cx="9143999" cy="689405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AB72946-DFF9-4CD3-8A49-FC2790991901}"/>
              </a:ext>
            </a:extLst>
          </p:cNvPr>
          <p:cNvSpPr txBox="1"/>
          <p:nvPr/>
        </p:nvSpPr>
        <p:spPr>
          <a:xfrm>
            <a:off x="1" y="6170361"/>
            <a:ext cx="914399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hlinkClick r:id="rId3"/>
              </a:rPr>
              <a:t>Watch Video Here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23349615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Micrometer</a:t>
            </a:r>
          </a:p>
        </p:txBody>
      </p:sp>
      <p:pic>
        <p:nvPicPr>
          <p:cNvPr id="4" name="Content Placeholder 3" descr="Fig 10-19 Micrometer.jpg"/>
          <p:cNvPicPr>
            <a:picLocks noGrp="1" noChangeAspect="1"/>
          </p:cNvPicPr>
          <p:nvPr>
            <p:ph idx="1"/>
          </p:nvPr>
        </p:nvPicPr>
        <p:blipFill>
          <a:blip r:embed="rId2" cstate="print"/>
          <a:stretch>
            <a:fillRect/>
          </a:stretch>
        </p:blipFill>
        <p:spPr>
          <a:xfrm>
            <a:off x="1554691" y="1600200"/>
            <a:ext cx="6034617" cy="4525963"/>
          </a:xfr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A241AEA-38B5-4A0E-A440-4BCA9A880F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8028"/>
            <a:ext cx="9143999" cy="689405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9B7AD96-D8EE-48BF-943C-2CC50EA5A3E6}"/>
              </a:ext>
            </a:extLst>
          </p:cNvPr>
          <p:cNvSpPr txBox="1"/>
          <p:nvPr/>
        </p:nvSpPr>
        <p:spPr>
          <a:xfrm>
            <a:off x="1" y="6170361"/>
            <a:ext cx="914399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hlinkClick r:id="rId3"/>
              </a:rPr>
              <a:t>Watch Video Here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3306807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Chart, line chart&#10;&#10;Description automatically generated">
            <a:extLst>
              <a:ext uri="{FF2B5EF4-FFF2-40B4-BE49-F238E27FC236}">
                <a16:creationId xmlns:a16="http://schemas.microsoft.com/office/drawing/2014/main" id="{49852A0E-1CFC-41C1-B79F-9027FC0CDE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4654" y="1676400"/>
            <a:ext cx="5134692" cy="2276793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D4C9DC55-52FD-403F-BF9B-296BA3D3A39F}"/>
              </a:ext>
            </a:extLst>
          </p:cNvPr>
          <p:cNvSpPr txBox="1">
            <a:spLocks/>
          </p:cNvSpPr>
          <p:nvPr/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Micrometer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8F00FB6-9411-4B0C-832B-E4921E0F76BD}"/>
                  </a:ext>
                </a:extLst>
              </p:cNvPr>
              <p:cNvSpPr txBox="1"/>
              <p:nvPr/>
            </p:nvSpPr>
            <p:spPr>
              <a:xfrm>
                <a:off x="2971800" y="4211955"/>
                <a:ext cx="990600" cy="110799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r"/>
                <a:r>
                  <a:rPr lang="en-US" b="0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0.2“</m:t>
                    </m:r>
                  </m:oMath>
                </a14:m>
                <a:endParaRPr lang="en-US" b="0" dirty="0"/>
              </a:p>
              <a:p>
                <a:pPr algn="r"/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+ 0.025”</m:t>
                    </m:r>
                  </m:oMath>
                </a14:m>
                <a:endParaRPr lang="en-US" dirty="0"/>
              </a:p>
              <a:p>
                <a:pPr algn="r"/>
                <a:r>
                  <a:rPr lang="en-US" u="sng" dirty="0"/>
                  <a:t> </a:t>
                </a:r>
                <a14:m>
                  <m:oMath xmlns:m="http://schemas.openxmlformats.org/officeDocument/2006/math">
                    <m:r>
                      <a:rPr lang="en-US" i="1" u="sng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 u="sng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u="sng" dirty="0" smtClean="0">
                        <a:latin typeface="Cambria Math" panose="02040503050406030204" pitchFamily="18" charset="0"/>
                      </a:rPr>
                      <m:t>0.001”</m:t>
                    </m:r>
                  </m:oMath>
                </a14:m>
                <a:endParaRPr lang="en-US" u="sng" dirty="0"/>
              </a:p>
              <a:p>
                <a:pPr algn="r"/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0.226”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8F00FB6-9411-4B0C-832B-E4921E0F76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71800" y="4211955"/>
                <a:ext cx="990600" cy="1107996"/>
              </a:xfrm>
              <a:prstGeom prst="rect">
                <a:avLst/>
              </a:prstGeom>
              <a:blipFill>
                <a:blip r:embed="rId3"/>
                <a:stretch>
                  <a:fillRect r="-9259" b="-10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BFFB961-6609-4850-8140-1E321AE4B0D7}"/>
                  </a:ext>
                </a:extLst>
              </p:cNvPr>
              <p:cNvSpPr txBox="1"/>
              <p:nvPr/>
            </p:nvSpPr>
            <p:spPr>
              <a:xfrm>
                <a:off x="5105400" y="4211955"/>
                <a:ext cx="1447800" cy="138499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r"/>
                <a:r>
                  <a:rPr lang="en-US" b="0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0.2“</m:t>
                    </m:r>
                  </m:oMath>
                </a14:m>
                <a:endParaRPr lang="en-US" b="0" dirty="0"/>
              </a:p>
              <a:p>
                <a:pPr algn="r"/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+ 0.025”</m:t>
                    </m:r>
                  </m:oMath>
                </a14:m>
                <a:endParaRPr lang="en-US" dirty="0"/>
              </a:p>
              <a:p>
                <a:pPr algn="r"/>
                <a:r>
                  <a:rPr lang="en-US" b="0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+ 0.001"</m:t>
                    </m:r>
                  </m:oMath>
                </a14:m>
                <a:endParaRPr lang="en-US" dirty="0"/>
              </a:p>
              <a:p>
                <a:pPr algn="r"/>
                <a:r>
                  <a:rPr lang="en-US" u="sng" dirty="0"/>
                  <a:t> </a:t>
                </a:r>
                <a14:m>
                  <m:oMath xmlns:m="http://schemas.openxmlformats.org/officeDocument/2006/math">
                    <m:r>
                      <a:rPr lang="en-US" i="1" u="sng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 u="sng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u="sng" dirty="0" smtClean="0">
                        <a:latin typeface="Cambria Math" panose="02040503050406030204" pitchFamily="18" charset="0"/>
                      </a:rPr>
                      <m:t>0.00</m:t>
                    </m:r>
                    <m:r>
                      <a:rPr lang="en-US" b="0" i="1" u="sng" dirty="0" smtClean="0">
                        <a:latin typeface="Cambria Math" panose="02040503050406030204" pitchFamily="18" charset="0"/>
                      </a:rPr>
                      <m:t>02</m:t>
                    </m:r>
                    <m:r>
                      <a:rPr lang="en-US" i="1" u="sng" dirty="0" smtClean="0">
                        <a:latin typeface="Cambria Math" panose="02040503050406030204" pitchFamily="18" charset="0"/>
                      </a:rPr>
                      <m:t>”</m:t>
                    </m:r>
                  </m:oMath>
                </a14:m>
                <a:endParaRPr lang="en-US" u="sng" dirty="0"/>
              </a:p>
              <a:p>
                <a:pPr algn="r"/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0.226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”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BFFB961-6609-4850-8140-1E321AE4B0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5400" y="4211955"/>
                <a:ext cx="1447800" cy="1384995"/>
              </a:xfrm>
              <a:prstGeom prst="rect">
                <a:avLst/>
              </a:prstGeom>
              <a:blipFill>
                <a:blip r:embed="rId4"/>
                <a:stretch>
                  <a:fillRect r="-6329" b="-8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108983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Toolmaker’s Microscope</a:t>
            </a:r>
          </a:p>
        </p:txBody>
      </p:sp>
      <p:pic>
        <p:nvPicPr>
          <p:cNvPr id="4" name="Content Placeholder 3" descr="Fig 10-22 Toolmakers microscope.jpg"/>
          <p:cNvPicPr>
            <a:picLocks noGrp="1" noChangeAspect="1"/>
          </p:cNvPicPr>
          <p:nvPr>
            <p:ph idx="1"/>
          </p:nvPr>
        </p:nvPicPr>
        <p:blipFill>
          <a:blip r:embed="rId2" cstate="print"/>
          <a:stretch>
            <a:fillRect/>
          </a:stretch>
        </p:blipFill>
        <p:spPr>
          <a:xfrm>
            <a:off x="1554691" y="1600200"/>
            <a:ext cx="6034617" cy="4525963"/>
          </a:xfr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Optical Comparator</a:t>
            </a:r>
          </a:p>
        </p:txBody>
      </p:sp>
      <p:pic>
        <p:nvPicPr>
          <p:cNvPr id="4" name="Content Placeholder 3" descr="Fig 10-23 Optical Comparator.jpg"/>
          <p:cNvPicPr>
            <a:picLocks noGrp="1" noChangeAspect="1"/>
          </p:cNvPicPr>
          <p:nvPr>
            <p:ph idx="1"/>
          </p:nvPr>
        </p:nvPicPr>
        <p:blipFill>
          <a:blip r:embed="rId2" cstate="print"/>
          <a:stretch>
            <a:fillRect/>
          </a:stretch>
        </p:blipFill>
        <p:spPr>
          <a:xfrm>
            <a:off x="1554691" y="1600200"/>
            <a:ext cx="6034617" cy="4525963"/>
          </a:xfr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Chart&#10;&#10;Description automatically generated">
            <a:extLst>
              <a:ext uri="{FF2B5EF4-FFF2-40B4-BE49-F238E27FC236}">
                <a16:creationId xmlns:a16="http://schemas.microsoft.com/office/drawing/2014/main" id="{1FAAF198-C8AD-4D16-88A8-42D1B088F99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8028"/>
            <a:ext cx="9143999" cy="689405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C883EAE-62CD-4153-A05A-5CF8F6364D97}"/>
              </a:ext>
            </a:extLst>
          </p:cNvPr>
          <p:cNvSpPr txBox="1"/>
          <p:nvPr/>
        </p:nvSpPr>
        <p:spPr>
          <a:xfrm>
            <a:off x="1" y="6170361"/>
            <a:ext cx="914399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hlinkClick r:id="rId4"/>
              </a:rPr>
              <a:t>Watch Video Here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7613427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Interferometry</a:t>
            </a:r>
          </a:p>
        </p:txBody>
      </p:sp>
      <p:pic>
        <p:nvPicPr>
          <p:cNvPr id="4" name="Content Placeholder 3" descr="Fig 10-24 Interference bands.jpg"/>
          <p:cNvPicPr>
            <a:picLocks noGrp="1" noChangeAspect="1"/>
          </p:cNvPicPr>
          <p:nvPr>
            <p:ph idx="1"/>
          </p:nvPr>
        </p:nvPicPr>
        <p:blipFill>
          <a:blip r:embed="rId2" cstate="print"/>
          <a:stretch>
            <a:fillRect/>
          </a:stretch>
        </p:blipFill>
        <p:spPr>
          <a:xfrm>
            <a:off x="1554691" y="1600200"/>
            <a:ext cx="6034617" cy="4525963"/>
          </a:xfr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Bevel Protractor</a:t>
            </a:r>
          </a:p>
        </p:txBody>
      </p:sp>
      <p:pic>
        <p:nvPicPr>
          <p:cNvPr id="4" name="Content Placeholder 3" descr="Fig 10-32 Bevel protractor.jpg"/>
          <p:cNvPicPr>
            <a:picLocks noGrp="1" noChangeAspect="1"/>
          </p:cNvPicPr>
          <p:nvPr>
            <p:ph idx="1"/>
          </p:nvPr>
        </p:nvPicPr>
        <p:blipFill>
          <a:blip r:embed="rId2" cstate="print"/>
          <a:srcRect t="8186" r="591"/>
          <a:stretch>
            <a:fillRect/>
          </a:stretch>
        </p:blipFill>
        <p:spPr>
          <a:xfrm>
            <a:off x="1066800" y="1905000"/>
            <a:ext cx="7205663" cy="3463131"/>
          </a:xfr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Sine Bar</a:t>
            </a:r>
          </a:p>
        </p:txBody>
      </p:sp>
      <p:pic>
        <p:nvPicPr>
          <p:cNvPr id="4" name="Content Placeholder 3" descr="Fig 10-33 Sine bar.jpg"/>
          <p:cNvPicPr>
            <a:picLocks noGrp="1" noChangeAspect="1"/>
          </p:cNvPicPr>
          <p:nvPr>
            <p:ph idx="1"/>
          </p:nvPr>
        </p:nvPicPr>
        <p:blipFill>
          <a:blip r:embed="rId2" cstate="print"/>
          <a:srcRect l="754" t="23571" b="24237"/>
          <a:stretch>
            <a:fillRect/>
          </a:stretch>
        </p:blipFill>
        <p:spPr>
          <a:xfrm>
            <a:off x="1676400" y="1905000"/>
            <a:ext cx="5989108" cy="2362200"/>
          </a:xfr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Double-Ended Plug Gage</a:t>
            </a:r>
            <a:br>
              <a:rPr lang="en-US" dirty="0"/>
            </a:br>
            <a:r>
              <a:rPr lang="en-US" dirty="0"/>
              <a:t>Go/No-Go</a:t>
            </a:r>
          </a:p>
        </p:txBody>
      </p:sp>
      <p:pic>
        <p:nvPicPr>
          <p:cNvPr id="4" name="Content Placeholder 3" descr="Fig 10-34 Plug gage double ended.jpg"/>
          <p:cNvPicPr>
            <a:picLocks noGrp="1" noChangeAspect="1"/>
          </p:cNvPicPr>
          <p:nvPr>
            <p:ph idx="1"/>
          </p:nvPr>
        </p:nvPicPr>
        <p:blipFill>
          <a:blip r:embed="rId2" cstate="print"/>
          <a:srcRect t="35356" r="1508" b="36023"/>
          <a:stretch>
            <a:fillRect/>
          </a:stretch>
        </p:blipFill>
        <p:spPr>
          <a:xfrm>
            <a:off x="1676400" y="2362200"/>
            <a:ext cx="5943600" cy="1295400"/>
          </a:xfr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Step-type Plug Gage</a:t>
            </a:r>
          </a:p>
        </p:txBody>
      </p:sp>
      <p:pic>
        <p:nvPicPr>
          <p:cNvPr id="4" name="Content Placeholder 3" descr="Fig 10-35 Plug gage step type.jpg"/>
          <p:cNvPicPr>
            <a:picLocks noGrp="1" noChangeAspect="1"/>
          </p:cNvPicPr>
          <p:nvPr>
            <p:ph idx="1"/>
          </p:nvPr>
        </p:nvPicPr>
        <p:blipFill>
          <a:blip r:embed="rId2" cstate="print"/>
          <a:stretch>
            <a:fillRect/>
          </a:stretch>
        </p:blipFill>
        <p:spPr>
          <a:xfrm>
            <a:off x="1554691" y="1600200"/>
            <a:ext cx="6034617" cy="4525963"/>
          </a:xfr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382000" cy="2468562"/>
          </a:xfrm>
        </p:spPr>
        <p:txBody>
          <a:bodyPr>
            <a:normAutofit fontScale="90000"/>
          </a:bodyPr>
          <a:lstStyle/>
          <a:p>
            <a:r>
              <a:rPr lang="en-US" dirty="0"/>
              <a:t>Ring Gages</a:t>
            </a:r>
            <a:br>
              <a:rPr lang="en-US" dirty="0"/>
            </a:br>
            <a:r>
              <a:rPr lang="en-US" dirty="0"/>
              <a:t>No-Go (max) on left, with knurling groove.</a:t>
            </a:r>
            <a:br>
              <a:rPr lang="en-US" dirty="0"/>
            </a:br>
            <a:r>
              <a:rPr lang="en-US" dirty="0"/>
              <a:t>Go (min)on right, without groove</a:t>
            </a:r>
          </a:p>
        </p:txBody>
      </p:sp>
      <p:pic>
        <p:nvPicPr>
          <p:cNvPr id="4" name="Content Placeholder 3" descr="Fig 10-36 Ring gages.jpg"/>
          <p:cNvPicPr>
            <a:picLocks noGrp="1" noChangeAspect="1"/>
          </p:cNvPicPr>
          <p:nvPr>
            <p:ph idx="1"/>
          </p:nvPr>
        </p:nvPicPr>
        <p:blipFill>
          <a:blip r:embed="rId2" cstate="print"/>
          <a:stretch>
            <a:fillRect/>
          </a:stretch>
        </p:blipFill>
        <p:spPr>
          <a:xfrm>
            <a:off x="1554691" y="2832763"/>
            <a:ext cx="5074709" cy="3293400"/>
          </a:xfr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Adjustable Snap Gage</a:t>
            </a:r>
          </a:p>
        </p:txBody>
      </p:sp>
      <p:pic>
        <p:nvPicPr>
          <p:cNvPr id="4" name="Content Placeholder 3" descr="Fig 10-37 Snap gage.jpg"/>
          <p:cNvPicPr>
            <a:picLocks noGrp="1" noChangeAspect="1"/>
          </p:cNvPicPr>
          <p:nvPr>
            <p:ph idx="1"/>
          </p:nvPr>
        </p:nvPicPr>
        <p:blipFill>
          <a:blip r:embed="rId2" cstate="print"/>
          <a:stretch>
            <a:fillRect/>
          </a:stretch>
        </p:blipFill>
        <p:spPr>
          <a:xfrm>
            <a:off x="1554691" y="1600200"/>
            <a:ext cx="6034617" cy="4525963"/>
          </a:xfr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Radius Gages</a:t>
            </a:r>
          </a:p>
        </p:txBody>
      </p:sp>
      <p:pic>
        <p:nvPicPr>
          <p:cNvPr id="4" name="Content Placeholder 3" descr="Fig 10-39 Radius gages.jpg"/>
          <p:cNvPicPr>
            <a:picLocks noGrp="1" noChangeAspect="1"/>
          </p:cNvPicPr>
          <p:nvPr>
            <p:ph idx="1"/>
          </p:nvPr>
        </p:nvPicPr>
        <p:blipFill>
          <a:blip r:embed="rId2" cstate="print"/>
          <a:srcRect l="31059" t="1684" r="32322"/>
          <a:stretch>
            <a:fillRect/>
          </a:stretch>
        </p:blipFill>
        <p:spPr>
          <a:xfrm>
            <a:off x="3429000" y="1676400"/>
            <a:ext cx="2209800" cy="4449763"/>
          </a:xfr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Thread Pitch Gages</a:t>
            </a:r>
          </a:p>
        </p:txBody>
      </p:sp>
      <p:pic>
        <p:nvPicPr>
          <p:cNvPr id="4" name="Content Placeholder 3" descr="Fig 10-40 Thread pitch gages.jpg"/>
          <p:cNvPicPr>
            <a:picLocks noGrp="1" noChangeAspect="1"/>
          </p:cNvPicPr>
          <p:nvPr>
            <p:ph idx="1"/>
          </p:nvPr>
        </p:nvPicPr>
        <p:blipFill>
          <a:blip r:embed="rId2" cstate="print"/>
          <a:stretch>
            <a:fillRect/>
          </a:stretch>
        </p:blipFill>
        <p:spPr>
          <a:xfrm>
            <a:off x="1554691" y="1600200"/>
            <a:ext cx="6034617" cy="4525963"/>
          </a:xfr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Magnetic Particle Inspection</a:t>
            </a:r>
          </a:p>
        </p:txBody>
      </p:sp>
      <p:pic>
        <p:nvPicPr>
          <p:cNvPr id="6" name="Content Placeholder 5" descr="Fig 10-43 Magnetic particle inspection.jpg"/>
          <p:cNvPicPr>
            <a:picLocks noGrp="1" noChangeAspect="1"/>
          </p:cNvPicPr>
          <p:nvPr>
            <p:ph idx="1"/>
          </p:nvPr>
        </p:nvPicPr>
        <p:blipFill>
          <a:blip r:embed="rId2" cstate="print"/>
          <a:srcRect l="-509" t="33672" r="754" b="29288"/>
          <a:stretch>
            <a:fillRect/>
          </a:stretch>
        </p:blipFill>
        <p:spPr>
          <a:xfrm>
            <a:off x="1371600" y="1676400"/>
            <a:ext cx="6019800" cy="1676400"/>
          </a:xfr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Ultrasonic Inspection</a:t>
            </a:r>
          </a:p>
        </p:txBody>
      </p:sp>
      <p:pic>
        <p:nvPicPr>
          <p:cNvPr id="4" name="Content Placeholder 3" descr="Fig 10-46 Ultrasonic inspection.jpg"/>
          <p:cNvPicPr>
            <a:picLocks noGrp="1" noChangeAspect="1"/>
          </p:cNvPicPr>
          <p:nvPr>
            <p:ph idx="1"/>
          </p:nvPr>
        </p:nvPicPr>
        <p:blipFill>
          <a:blip r:embed="rId2" cstate="print"/>
          <a:srcRect l="754" t="23571" b="22553"/>
          <a:stretch>
            <a:fillRect/>
          </a:stretch>
        </p:blipFill>
        <p:spPr>
          <a:xfrm>
            <a:off x="1600200" y="1981200"/>
            <a:ext cx="5989108" cy="2438400"/>
          </a:xfr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Radiography</a:t>
            </a:r>
            <a:br>
              <a:rPr lang="en-US" dirty="0"/>
            </a:br>
            <a:r>
              <a:rPr lang="en-US" dirty="0"/>
              <a:t>X-Ray Inspection</a:t>
            </a:r>
          </a:p>
        </p:txBody>
      </p:sp>
      <p:pic>
        <p:nvPicPr>
          <p:cNvPr id="4" name="Content Placeholder 3" descr="Fig 10-48 X-ray inspection Liberty Bell.jpg"/>
          <p:cNvPicPr>
            <a:picLocks noGrp="1" noChangeAspect="1"/>
          </p:cNvPicPr>
          <p:nvPr>
            <p:ph idx="1"/>
          </p:nvPr>
        </p:nvPicPr>
        <p:blipFill>
          <a:blip r:embed="rId3" cstate="print"/>
          <a:stretch>
            <a:fillRect/>
          </a:stretch>
        </p:blipFill>
        <p:spPr>
          <a:xfrm>
            <a:off x="1554691" y="1600200"/>
            <a:ext cx="6034617" cy="4525963"/>
          </a:xfr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1362</TotalTime>
  <Words>178</Words>
  <Application>Microsoft Office PowerPoint</Application>
  <PresentationFormat>On-screen Show (4:3)</PresentationFormat>
  <Paragraphs>58</Paragraphs>
  <Slides>34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9" baseType="lpstr">
      <vt:lpstr>Arial</vt:lpstr>
      <vt:lpstr>Calibri</vt:lpstr>
      <vt:lpstr>Cambria Math</vt:lpstr>
      <vt:lpstr>Wingdings</vt:lpstr>
      <vt:lpstr>Office Theme</vt:lpstr>
      <vt:lpstr>Measurement, Inspection, and Testing</vt:lpstr>
      <vt:lpstr>PowerPoint Presentation</vt:lpstr>
      <vt:lpstr>Gage Blocks</vt:lpstr>
      <vt:lpstr>PowerPoint Presentation</vt:lpstr>
      <vt:lpstr>Gage Blocks wrung together</vt:lpstr>
      <vt:lpstr>Mated Parts</vt:lpstr>
      <vt:lpstr>Normal Distribution</vt:lpstr>
      <vt:lpstr>Distributions of Mating Parts</vt:lpstr>
      <vt:lpstr>Accuracy Versus Precision</vt:lpstr>
      <vt:lpstr>Rule of 10 for Inspection</vt:lpstr>
      <vt:lpstr>Machinist’s Rules</vt:lpstr>
      <vt:lpstr>Combination Set</vt:lpstr>
      <vt:lpstr>Vernier Caliper</vt:lpstr>
      <vt:lpstr>Vernier Caliper Scale</vt:lpstr>
      <vt:lpstr>Dial Caliper</vt:lpstr>
      <vt:lpstr>PowerPoint Presentation</vt:lpstr>
      <vt:lpstr>Micrometer</vt:lpstr>
      <vt:lpstr>PowerPoint Presentation</vt:lpstr>
      <vt:lpstr>PowerPoint Presentation</vt:lpstr>
      <vt:lpstr>Toolmaker’s Microscope</vt:lpstr>
      <vt:lpstr>Optical Comparator</vt:lpstr>
      <vt:lpstr>PowerPoint Presentation</vt:lpstr>
      <vt:lpstr>Interferometry</vt:lpstr>
      <vt:lpstr>Bevel Protractor</vt:lpstr>
      <vt:lpstr>Sine Bar</vt:lpstr>
      <vt:lpstr>Double-Ended Plug Gage Go/No-Go</vt:lpstr>
      <vt:lpstr>Step-type Plug Gage</vt:lpstr>
      <vt:lpstr>Ring Gages No-Go (max) on left, with knurling groove. Go (min)on right, without groove</vt:lpstr>
      <vt:lpstr>Adjustable Snap Gage</vt:lpstr>
      <vt:lpstr>Radius Gages</vt:lpstr>
      <vt:lpstr>Thread Pitch Gages</vt:lpstr>
      <vt:lpstr>Magnetic Particle Inspection</vt:lpstr>
      <vt:lpstr>Ultrasonic Inspection</vt:lpstr>
      <vt:lpstr>Radiography X-Ray Inspection</vt:lpstr>
    </vt:vector>
  </TitlesOfParts>
  <Company>La Tech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Accuracy Versus Precision</dc:title>
  <dc:creator>Ray McKinney</dc:creator>
  <cp:lastModifiedBy>William Long</cp:lastModifiedBy>
  <cp:revision>39</cp:revision>
  <dcterms:created xsi:type="dcterms:W3CDTF">2009-12-01T15:28:20Z</dcterms:created>
  <dcterms:modified xsi:type="dcterms:W3CDTF">2022-03-15T21:12:11Z</dcterms:modified>
</cp:coreProperties>
</file>