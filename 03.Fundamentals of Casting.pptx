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57" r:id="rId6"/>
    <p:sldId id="275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9" r:id="rId17"/>
    <p:sldId id="270" r:id="rId18"/>
    <p:sldId id="267" r:id="rId19"/>
    <p:sldId id="268" r:id="rId20"/>
    <p:sldId id="27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82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A9B77-CD17-4703-9E52-21A11D572210}" type="datetimeFigureOut">
              <a:rPr lang="en-US" smtClean="0"/>
              <a:pPr/>
              <a:t>2021-03-20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1B157-1FD9-4194-AE3E-EEF8F955B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Fundamentals of 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609600"/>
            <a:ext cx="7772400" cy="1470025"/>
          </a:xfrm>
        </p:spPr>
        <p:txBody>
          <a:bodyPr/>
          <a:lstStyle/>
          <a:p>
            <a:r>
              <a:rPr lang="en-US" dirty="0"/>
              <a:t>Four Families of Shape-Producing Manufacturing Processes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2819400"/>
            <a:ext cx="6934200" cy="3276600"/>
          </a:xfrm>
        </p:spPr>
        <p:txBody>
          <a:bodyPr/>
          <a:lstStyle/>
          <a:p>
            <a:pPr marL="514350" indent="-514350" algn="l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Casting</a:t>
            </a:r>
          </a:p>
          <a:p>
            <a:pPr marL="514350" indent="-514350" algn="l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Material Removal</a:t>
            </a:r>
          </a:p>
          <a:p>
            <a:pPr marL="514350" indent="-514350" algn="l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Deformation Processes</a:t>
            </a:r>
          </a:p>
          <a:p>
            <a:pPr marL="514350" indent="-514350" algn="l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Consolidation Processes</a:t>
            </a:r>
          </a:p>
        </p:txBody>
      </p:sp>
    </p:spTree>
    <p:extLst>
      <p:ext uri="{BB962C8B-B14F-4D97-AF65-F5344CB8AC3E}">
        <p14:creationId xmlns:p14="http://schemas.microsoft.com/office/powerpoint/2010/main" val="50109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Sand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Expendable mold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Sand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Shell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Investment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Lost foam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Multiple-use mold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Die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Permanent mold</a:t>
            </a:r>
          </a:p>
        </p:txBody>
      </p:sp>
    </p:spTree>
    <p:extLst>
      <p:ext uri="{BB962C8B-B14F-4D97-AF65-F5344CB8AC3E}">
        <p14:creationId xmlns:p14="http://schemas.microsoft.com/office/powerpoint/2010/main" val="421228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Six Requirements of Casting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Mold Cavity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Melting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Pouring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Solidification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Mold Removal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Cleaning, Finishing, and Inspection</a:t>
            </a:r>
          </a:p>
        </p:txBody>
      </p:sp>
    </p:spTree>
    <p:extLst>
      <p:ext uri="{BB962C8B-B14F-4D97-AF65-F5344CB8AC3E}">
        <p14:creationId xmlns:p14="http://schemas.microsoft.com/office/powerpoint/2010/main" val="387593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 11-2 Casting terminology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l="32106" t="-147" r="22946" b="76179"/>
          <a:stretch/>
        </p:blipFill>
        <p:spPr>
          <a:xfrm>
            <a:off x="0" y="1078942"/>
            <a:ext cx="3529532" cy="22098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Two-part sand mold</a:t>
            </a:r>
          </a:p>
        </p:txBody>
      </p:sp>
      <p:pic>
        <p:nvPicPr>
          <p:cNvPr id="5" name="Content Placeholder 3" descr="Fig 11-2 Casting terminology.jpg">
            <a:extLst>
              <a:ext uri="{FF2B5EF4-FFF2-40B4-BE49-F238E27FC236}">
                <a16:creationId xmlns:a16="http://schemas.microsoft.com/office/drawing/2014/main" id="{3D631D37-BDAD-4108-A28C-748B2E82A8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8027" t="74263" r="6890"/>
          <a:stretch/>
        </p:blipFill>
        <p:spPr>
          <a:xfrm>
            <a:off x="4038600" y="1315951"/>
            <a:ext cx="4887031" cy="1735783"/>
          </a:xfrm>
          <a:prstGeom prst="rect">
            <a:avLst/>
          </a:prstGeom>
        </p:spPr>
      </p:pic>
      <p:pic>
        <p:nvPicPr>
          <p:cNvPr id="6" name="Content Placeholder 3" descr="Fig 11-2 Casting terminology.jpg">
            <a:extLst>
              <a:ext uri="{FF2B5EF4-FFF2-40B4-BE49-F238E27FC236}">
                <a16:creationId xmlns:a16="http://schemas.microsoft.com/office/drawing/2014/main" id="{942582C1-CE2B-4873-A98C-1B3051561E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6421" t="24609" r="5287" b="28905"/>
          <a:stretch/>
        </p:blipFill>
        <p:spPr>
          <a:xfrm>
            <a:off x="1690906" y="3289946"/>
            <a:ext cx="5762188" cy="356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Solidification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Nucleation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/>
              <a:t>Begins at mold walls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/>
              <a:t>Each nucleation site produces a grain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/>
              <a:t>Introduction of impurities promotes fine grains</a:t>
            </a:r>
          </a:p>
          <a:p>
            <a:pPr marL="512064" lvl="1" indent="-512064" defTabSz="457200">
              <a:spcBef>
                <a:spcPts val="0"/>
              </a:spcBef>
              <a:buFont typeface="+mj-lt"/>
              <a:buAutoNum type="arabicPeriod" startAt="2"/>
            </a:pPr>
            <a:r>
              <a:rPr lang="en-US" sz="3200" dirty="0"/>
              <a:t>Grain growth</a:t>
            </a:r>
          </a:p>
          <a:p>
            <a:pPr marL="969264" lvl="1" indent="-457200">
              <a:spcBef>
                <a:spcPts val="0"/>
              </a:spcBef>
              <a:buFont typeface="Arial" pitchFamily="34" charset="0"/>
              <a:buChar char="•"/>
            </a:pPr>
            <a:r>
              <a:rPr lang="en-US" sz="3200" dirty="0"/>
              <a:t>Growth of nucleated grains</a:t>
            </a:r>
          </a:p>
          <a:p>
            <a:pPr marL="969264" lvl="1" indent="-457200">
              <a:spcBef>
                <a:spcPts val="0"/>
              </a:spcBef>
              <a:buFont typeface="Arial" pitchFamily="34" charset="0"/>
              <a:buChar char="•"/>
            </a:pPr>
            <a:r>
              <a:rPr lang="en-US" sz="3200" dirty="0"/>
              <a:t>Control direction to assure solid casting</a:t>
            </a:r>
          </a:p>
          <a:p>
            <a:pPr marL="969264" lvl="1" indent="-457200">
              <a:spcBef>
                <a:spcPts val="0"/>
              </a:spcBef>
              <a:buFont typeface="Arial" pitchFamily="34" charset="0"/>
              <a:buChar char="•"/>
            </a:pPr>
            <a:r>
              <a:rPr lang="en-US" sz="3200" dirty="0"/>
              <a:t>Smallest grains at casting wall</a:t>
            </a:r>
          </a:p>
        </p:txBody>
      </p:sp>
    </p:spTree>
    <p:extLst>
      <p:ext uri="{BB962C8B-B14F-4D97-AF65-F5344CB8AC3E}">
        <p14:creationId xmlns:p14="http://schemas.microsoft.com/office/powerpoint/2010/main" val="46417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Metal cooling curve</a:t>
            </a:r>
            <a:br>
              <a:rPr lang="en-US" dirty="0"/>
            </a:br>
            <a:r>
              <a:rPr lang="en-US" dirty="0"/>
              <a:t>eutectic composition</a:t>
            </a:r>
          </a:p>
        </p:txBody>
      </p:sp>
      <p:pic>
        <p:nvPicPr>
          <p:cNvPr id="4" name="Content Placeholder 3" descr="Fig 11-3 Cooling curve eutectic composi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96445" y="1600200"/>
            <a:ext cx="6751109" cy="5063332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Diagram and </a:t>
            </a:r>
            <a:r>
              <a:rPr lang="en-US"/>
              <a:t>Cooling Curve</a:t>
            </a:r>
            <a:br>
              <a:rPr lang="en-US"/>
            </a:br>
            <a:r>
              <a:rPr lang="en-US"/>
              <a:t>Cu-Ni</a:t>
            </a:r>
            <a:endParaRPr lang="en-US" dirty="0"/>
          </a:p>
        </p:txBody>
      </p:sp>
      <p:pic>
        <p:nvPicPr>
          <p:cNvPr id="4" name="Content Placeholder 3" descr="Fig 11-4 Phase diagram cooling curv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967706"/>
            <a:ext cx="7620000" cy="379095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structure of cast metal bar</a:t>
            </a:r>
          </a:p>
        </p:txBody>
      </p:sp>
      <p:pic>
        <p:nvPicPr>
          <p:cNvPr id="4" name="Content Placeholder 3" descr="Fig 11-5 Casting chill zone columnar grai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32322" r="32322"/>
          <a:stretch>
            <a:fillRect/>
          </a:stretch>
        </p:blipFill>
        <p:spPr>
          <a:xfrm>
            <a:off x="3505200" y="1600200"/>
            <a:ext cx="2133600" cy="4525963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Gating system for sand mold</a:t>
            </a:r>
          </a:p>
        </p:txBody>
      </p:sp>
      <p:pic>
        <p:nvPicPr>
          <p:cNvPr id="4" name="Content Placeholder 3" descr="Fig 11-9 Gating system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56689" y="1600200"/>
            <a:ext cx="7030622" cy="452596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Dimensional changes of metal column</a:t>
            </a:r>
          </a:p>
        </p:txBody>
      </p:sp>
      <p:pic>
        <p:nvPicPr>
          <p:cNvPr id="4" name="Content Placeholder 3" descr="Fig 11-11 Solidification shrinkage char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Shrinkage shift to riser</a:t>
            </a:r>
          </a:p>
        </p:txBody>
      </p:sp>
      <p:pic>
        <p:nvPicPr>
          <p:cNvPr id="4" name="Content Placeholder 3" descr="Fig 11-12 Shrinkage void move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43538" y="1600200"/>
            <a:ext cx="4456923" cy="452596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Riser types</a:t>
            </a:r>
          </a:p>
        </p:txBody>
      </p:sp>
      <p:pic>
        <p:nvPicPr>
          <p:cNvPr id="4" name="Content Placeholder 3" descr="Fig 11-13 Open and closed riser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5913" r="1576" b="12239"/>
          <a:stretch>
            <a:fillRect/>
          </a:stretch>
        </p:blipFill>
        <p:spPr>
          <a:xfrm>
            <a:off x="795337" y="2590800"/>
            <a:ext cx="7434263" cy="23622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allowance</a:t>
            </a:r>
          </a:p>
        </p:txBody>
      </p:sp>
      <p:pic>
        <p:nvPicPr>
          <p:cNvPr id="4" name="Content Placeholder 3" descr="Fig 11-14 Draft allowance in mol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039144"/>
            <a:ext cx="7620000" cy="3648075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Machining Allowance</a:t>
            </a:r>
          </a:p>
        </p:txBody>
      </p:sp>
      <p:pic>
        <p:nvPicPr>
          <p:cNvPr id="4" name="Content Placeholder 3" descr="Fig 11-15 Allowanc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33600" y="2034381"/>
            <a:ext cx="4876800" cy="36576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Eliminate Dry-sand Core</a:t>
            </a:r>
          </a:p>
        </p:txBody>
      </p:sp>
      <p:pic>
        <p:nvPicPr>
          <p:cNvPr id="4" name="Content Placeholder 3" descr="Fig 11-17 Eliminate co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15213" b="16037"/>
          <a:stretch>
            <a:fillRect/>
          </a:stretch>
        </p:blipFill>
        <p:spPr>
          <a:xfrm>
            <a:off x="685800" y="1676400"/>
            <a:ext cx="7241309" cy="37338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Change Transition</a:t>
            </a:r>
          </a:p>
        </p:txBody>
      </p:sp>
      <p:pic>
        <p:nvPicPr>
          <p:cNvPr id="4" name="Content Placeholder 3" descr="Fig 11-19 Section change transi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563" t="27713" b="28537"/>
          <a:stretch>
            <a:fillRect/>
          </a:stretch>
        </p:blipFill>
        <p:spPr>
          <a:xfrm>
            <a:off x="457200" y="1676400"/>
            <a:ext cx="7772400" cy="25908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 Spots</a:t>
            </a:r>
          </a:p>
        </p:txBody>
      </p:sp>
      <p:pic>
        <p:nvPicPr>
          <p:cNvPr id="4" name="Content Placeholder 3" descr="Fig 11-20 Hot spot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21557" r="923" b="28727"/>
          <a:stretch>
            <a:fillRect/>
          </a:stretch>
        </p:blipFill>
        <p:spPr>
          <a:xfrm>
            <a:off x="990600" y="1752600"/>
            <a:ext cx="7086600" cy="266700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Intersecting section hot spots</a:t>
            </a:r>
          </a:p>
        </p:txBody>
      </p:sp>
      <p:pic>
        <p:nvPicPr>
          <p:cNvPr id="4" name="Content Placeholder 3" descr="Fig 11-21 Hot spots from intersecting sectio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-1563" t="21463" b="18121"/>
          <a:stretch>
            <a:fillRect/>
          </a:stretch>
        </p:blipFill>
        <p:spPr>
          <a:xfrm>
            <a:off x="838200" y="1524000"/>
            <a:ext cx="7514897" cy="335280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Attached Riser</a:t>
            </a:r>
          </a:p>
        </p:txBody>
      </p:sp>
      <p:pic>
        <p:nvPicPr>
          <p:cNvPr id="4" name="Content Placeholder 3" descr="Fig 11-22 Riser moves shrinkage loca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143</Words>
  <Application>Microsoft Office PowerPoint</Application>
  <PresentationFormat>On-screen Show (4:3)</PresentationFormat>
  <Paragraphs>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Fundamentals of Casting</vt:lpstr>
      <vt:lpstr>Four Families of Shape-Producing Manufacturing Processes</vt:lpstr>
      <vt:lpstr>Two Types of Sand Casting</vt:lpstr>
      <vt:lpstr>Six Requirements of Casting Processes</vt:lpstr>
      <vt:lpstr>Two-part sand mold</vt:lpstr>
      <vt:lpstr>Solidification Stages</vt:lpstr>
      <vt:lpstr>Metal cooling curve eutectic composition</vt:lpstr>
      <vt:lpstr>Phase Diagram and Cooling Curve Cu-Ni</vt:lpstr>
      <vt:lpstr>Internal structure of cast metal bar</vt:lpstr>
      <vt:lpstr>Gating system for sand mold</vt:lpstr>
      <vt:lpstr>Dimensional changes of metal column</vt:lpstr>
      <vt:lpstr>Shrinkage shift to riser</vt:lpstr>
      <vt:lpstr>Riser types</vt:lpstr>
      <vt:lpstr>Draft allowance</vt:lpstr>
      <vt:lpstr>Machining Allowance</vt:lpstr>
      <vt:lpstr>Eliminate Dry-sand Core</vt:lpstr>
      <vt:lpstr>Section Change Transition</vt:lpstr>
      <vt:lpstr>Hot Spots</vt:lpstr>
      <vt:lpstr>Intersecting section hot spots</vt:lpstr>
      <vt:lpstr>Attached Riser</vt:lpstr>
    </vt:vector>
  </TitlesOfParts>
  <Company>La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Ray McKinney</dc:creator>
  <cp:lastModifiedBy>William Long</cp:lastModifiedBy>
  <cp:revision>29</cp:revision>
  <dcterms:created xsi:type="dcterms:W3CDTF">2009-12-09T00:37:13Z</dcterms:created>
  <dcterms:modified xsi:type="dcterms:W3CDTF">2021-03-21T01:36:55Z</dcterms:modified>
</cp:coreProperties>
</file>